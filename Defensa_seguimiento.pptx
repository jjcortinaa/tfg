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577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GRADO  ·  IMAT  ·  ICAI – COMILLAS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basado en Inteligencia Artificial para el análisis de texturas musculares en pacientes con enfermedades neurodegenerativas (ELA) a partir de biomarcadores ecográficos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seguimiento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91440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Juan Cortina Galindo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Constantino Malagón Luque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45262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PROPÓSITO DEL TRABAJO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validar un sistema de soporte al diagnóstico de ELA basado en redes convolucionales sobre ecografía muscular, que opere a nivel de paciente.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2697480" cy="960120"/>
          </a:xfrm>
          <a:prstGeom prst="rect">
            <a:avLst/>
          </a:prstGeom>
          <a:solidFill>
            <a:srgbClr val="EEF4ED"/>
          </a:solidFill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73152" cy="9601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y comparar 5 CNNs pre-entrenadas en ImageNet sobre cada uno de los 4 músculos.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3260" y="2697480"/>
            <a:ext cx="2697480" cy="960120"/>
          </a:xfrm>
          <a:prstGeom prst="rect">
            <a:avLst/>
          </a:prstGeom>
          <a:solidFill>
            <a:srgbClr val="EEF4ED"/>
          </a:solidFill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223260" y="2697480"/>
            <a:ext cx="73152" cy="9601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406140" y="2788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y validación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614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los modelos y validar su rendimiento de forma robusta.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418"/>
            <a:ext cx="2697480" cy="960120"/>
          </a:xfrm>
          <a:prstGeom prst="rect">
            <a:avLst/>
          </a:prstGeom>
          <a:solidFill>
            <a:srgbClr val="EEF4ED"/>
          </a:solidFill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57200" y="3749418"/>
            <a:ext cx="73152" cy="9601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40080" y="384085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11517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mejor modelo mediante intervalos de confianza, recalibración de umbral y tests pareados.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89320" y="3749040"/>
            <a:ext cx="2697480" cy="960120"/>
          </a:xfrm>
          <a:prstGeom prst="rect">
            <a:avLst/>
          </a:prstGeom>
          <a:solidFill>
            <a:srgbClr val="EEF4ED"/>
          </a:solidFill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989320" y="3749040"/>
            <a:ext cx="73152" cy="9601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172200" y="3840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paciente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4114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los 4 músculos en una probabilidad única de ELA con tres reglas de fusión.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23260" y="3749040"/>
            <a:ext cx="2697480" cy="960120"/>
          </a:xfrm>
          <a:prstGeom prst="rect">
            <a:avLst/>
          </a:prstGeom>
          <a:solidFill>
            <a:srgbClr val="EEF4ED"/>
          </a:solidFill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223260" y="3749040"/>
            <a:ext cx="73152" cy="9601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406140" y="3840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06140" y="41148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mapas de activación (Grad-CAM, Guided, Saliency, Occlusion) sobre el modelo campeón.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89320" y="2697480"/>
            <a:ext cx="2697480" cy="960120"/>
          </a:xfrm>
          <a:prstGeom prst="rect">
            <a:avLst/>
          </a:prstGeom>
          <a:solidFill>
            <a:srgbClr val="EEF4ED"/>
          </a:solidFill>
          <a:ln w="635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5989320" y="2697480"/>
            <a:ext cx="73152" cy="9601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172200" y="2788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Contrastar el rendimiento global frente al baseline clínico (Martínez-Payá, 2017).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ELA · IMAT 2025–26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SISTEMA DESARROLLADO  (1 / 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extremo a extremo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9105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pacientes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músculos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52828" y="2125980"/>
            <a:ext cx="82296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139696" y="1463040"/>
            <a:ext cx="159105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276856" y="1554480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276856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85416" y="19659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Preprocesado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85416" y="242316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normalización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augmentation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35324" y="2125980"/>
            <a:ext cx="82296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822192" y="1463040"/>
            <a:ext cx="159105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959352" y="1554480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95935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67912" y="19659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validación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67912" y="242316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arquitecturas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cada músculo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17820" y="2125980"/>
            <a:ext cx="82296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504688" y="1463040"/>
            <a:ext cx="159105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641848" y="1554480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641848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50408" y="19659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50408" y="242316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campeón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00316" y="2125980"/>
            <a:ext cx="82296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7187184" y="1463040"/>
            <a:ext cx="159105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7324344" y="1554480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7324344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32904" y="19659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32904" y="242316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P(ELA) por paciente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Grad-CAM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3484" y="3268980"/>
            <a:ext cx="2697480" cy="10972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43484" y="33604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443484" y="38633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9544" y="3268980"/>
            <a:ext cx="2697480" cy="10972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3209544" y="33604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3209544" y="38633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combinaciones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× músculo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75604" y="3268980"/>
            <a:ext cx="2697480" cy="10972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5975604" y="33604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424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5975604" y="38633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ROI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dataset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ELA · IMAT 2025–26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SISTEMA DESARROLLADO  (2 / 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y preparación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clínico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28600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3657600" cy="0"/>
          </a:xfrm>
          <a:prstGeom prst="line">
            <a:avLst/>
          </a:prstGeom>
          <a:noFill/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grupos musculares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Bíceps · Antebrazo · Cuádriceps · Tibial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ecográficas bilaterales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ya seleccionado por un especialista del hospital sobre la zona muscular más relevante.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los datos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874520"/>
            <a:ext cx="320040" cy="3200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84632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85232" y="1828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85232" y="2103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Reescalado de las imágenes a 224×224 píxeles (entrada estándar de las redes pre-entrenadas).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788920"/>
            <a:ext cx="320040" cy="3200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84632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85232" y="2743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85232" y="30175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 ImageNet (media y desviación estándar por canal).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703320"/>
            <a:ext cx="320040" cy="3200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4632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3657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85232" y="39319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Flips, rotaciones y jitter para enriquecer el conjunto de entrenamiento.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ELA · IMAT 2025–26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SISTEMA DESARROLLADO  (3 / 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evaluadas y análisis estadístico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arquitecturas pre-entrenadas en ImageNet (transfer learning)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591056" cy="1005840"/>
          </a:xfrm>
          <a:prstGeom prst="rect">
            <a:avLst/>
          </a:prstGeom>
          <a:solidFill>
            <a:srgbClr val="EEF4ED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 par.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16836" y="1600200"/>
            <a:ext cx="1591056" cy="1005840"/>
          </a:xfrm>
          <a:prstGeom prst="rect">
            <a:avLst/>
          </a:prstGeom>
          <a:solidFill>
            <a:srgbClr val="0B2545"/>
          </a:solidFill>
          <a:ln w="889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162556" y="16916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62556" y="20574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 par.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62556" y="23317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CAMPEÓN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76472" y="1600200"/>
            <a:ext cx="1591056" cy="1005840"/>
          </a:xfrm>
          <a:prstGeom prst="rect">
            <a:avLst/>
          </a:prstGeom>
          <a:solidFill>
            <a:srgbClr val="EEF4ED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822192" y="16916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22192" y="20574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 par.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36108" y="1600200"/>
            <a:ext cx="1591056" cy="1005840"/>
          </a:xfrm>
          <a:prstGeom prst="rect">
            <a:avLst/>
          </a:prstGeom>
          <a:solidFill>
            <a:srgbClr val="EEF4ED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481828" y="16916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1828" y="20574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 par.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95744" y="1600200"/>
            <a:ext cx="1591056" cy="1005840"/>
          </a:xfrm>
          <a:prstGeom prst="rect">
            <a:avLst/>
          </a:prstGeom>
          <a:solidFill>
            <a:srgbClr val="EEF4ED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141464" y="16916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41464" y="20574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 par.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estadístico inferencial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0233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54864" cy="777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21792" y="31821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t-Student + bootstrap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345643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de confianza al 95% sobre las 5 AUCs por fold.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108960"/>
            <a:ext cx="40233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572000" y="3108960"/>
            <a:ext cx="54864" cy="777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736592" y="31821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Youden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36592" y="345643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Recalibración del umbral óptimo por fold para Sens / Spec estables.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40233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54864" cy="777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21792" y="40507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DeLong (</a:t>
            </a:r>
            <a:r>
              <a:rPr lang="en-US" sz="1200" b="1" dirty="0" err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pareado</a:t>
            </a: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p-valor)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" y="432511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AUCs de dos modelos sobre los mismos pacientes.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977640"/>
            <a:ext cx="4023360" cy="777240"/>
          </a:xfrm>
          <a:prstGeom prst="rect">
            <a:avLst/>
          </a:prstGeom>
          <a:solidFill>
            <a:srgbClr val="FFFFFF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4572000" y="3977640"/>
            <a:ext cx="54864" cy="777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736592" y="40507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signed-rank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36592" y="432511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métricas pareadas no paramétricas entre arquitecturas.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ELA · IMAT 2025–26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SISTEMA DESARROLLADO  (4 / 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a nivel paciente y explicabilidad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 jerárquica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206240" cy="640080"/>
          </a:xfrm>
          <a:prstGeom prst="rect">
            <a:avLst/>
          </a:prstGeom>
          <a:solidFill>
            <a:srgbClr val="EEF4ED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94360" y="1856232"/>
            <a:ext cx="320040" cy="3200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1856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755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51560" y="19933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P(ELA) por imagen ecográfica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58952" y="2340864"/>
            <a:ext cx="0" cy="118872"/>
          </a:xfrm>
          <a:prstGeom prst="line">
            <a:avLst/>
          </a:prstGeom>
          <a:noFill/>
          <a:ln w="25400">
            <a:solidFill>
              <a:srgbClr val="8DA9C4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206240" cy="640080"/>
          </a:xfrm>
          <a:prstGeom prst="rect">
            <a:avLst/>
          </a:prstGeom>
          <a:solidFill>
            <a:srgbClr val="EEF4ED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94360" y="2633472"/>
            <a:ext cx="320040" cy="3200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94360" y="2633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5328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× MÚSCULO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1560" y="27706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las imágenes del paciente en cada músculo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" y="3118104"/>
            <a:ext cx="0" cy="118872"/>
          </a:xfrm>
          <a:prstGeom prst="line">
            <a:avLst/>
          </a:prstGeom>
          <a:noFill/>
          <a:ln w="25400">
            <a:solidFill>
              <a:srgbClr val="8DA9C4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206240" cy="640080"/>
          </a:xfrm>
          <a:prstGeom prst="rect">
            <a:avLst/>
          </a:prstGeom>
          <a:solidFill>
            <a:srgbClr val="0B2545"/>
          </a:solidFill>
          <a:ln w="889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94360" y="3410712"/>
            <a:ext cx="320040" cy="320040"/>
          </a:xfrm>
          <a:prstGeom prst="ellipse">
            <a:avLst/>
          </a:prstGeom>
          <a:solidFill>
            <a:srgbClr val="8DA9C4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94360" y="3410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3101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51560" y="35478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de los 4 músculos en una decisión única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reglas de fusión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simple · media ponderada por AUC · voto mayoritario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activación (ResNet-50)</a:t>
            </a:r>
            <a:endParaRPr lang="en-US" sz="1300" dirty="0"/>
          </a:p>
        </p:txBody>
      </p:sp>
      <p:pic>
        <p:nvPicPr>
          <p:cNvPr id="24" name="Image 0" descr="Resumen Grad-CAM 4 músculos × 4 imáge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645920"/>
            <a:ext cx="3840480" cy="2606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846320" y="4297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· Guided Backprop · Saliency · Occlusion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6576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ELA · IMAT 2025–26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RESULTADOS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sistema final (n = 53 pacientes)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11680" cy="14173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99,15</a:t>
            </a:r>
            <a:r>
              <a:rPr lang="en-US" sz="1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IC95% 96,8 – 100,0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30145" y="13258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621585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21585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98,11</a:t>
            </a:r>
            <a:r>
              <a:rPr lang="en-US" sz="18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621585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IC95% 94,3 – 100,0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03090" y="13258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69453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94530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96,30</a:t>
            </a:r>
            <a:r>
              <a:rPr lang="en-US" sz="18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69453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IC95% 88,2 – 100,0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76034" y="13258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767474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3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7474" y="1691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</a:t>
            </a:r>
            <a:r>
              <a:rPr lang="en-US" sz="18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767474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IC95% 100,0 – 100,0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4023360" cy="1783080"/>
          </a:xfrm>
          <a:prstGeom prst="rect">
            <a:avLst/>
          </a:prstGeom>
          <a:solidFill>
            <a:srgbClr val="EEF4ED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37560"/>
          <a:ext cx="3657600" cy="1280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ELA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Ctrl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663440" y="2926080"/>
            <a:ext cx="4023360" cy="1783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Martínez-Payá 2017 (baseline a nivel imagen)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337560"/>
          <a:ext cx="3657600" cy="126187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8DA9C4"/>
                          </a:solidFill>
                        </a:rPr>
                        <a:t>Métrica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DA9C4"/>
                          </a:solidFill>
                        </a:rPr>
                        <a:t>Baseline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DA9C4"/>
                          </a:solidFill>
                        </a:rPr>
                        <a:t>Sistema TFG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8DA9C4"/>
                          </a:solidFill>
                        </a:rPr>
                        <a:t>Δ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≈ 94 %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99,15 %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+5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Sensibilidad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≈ 87 %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96,30 %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+9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Especificidad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≈ 87 %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100 %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+13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36576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ELA · IMAT 2025–26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PLANIFICACIÓN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y cronograma hasta defensa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2286000"/>
            <a:ext cx="6583680" cy="0"/>
          </a:xfrm>
          <a:prstGeom prst="line">
            <a:avLst/>
          </a:prstGeom>
          <a:noFill/>
          <a:ln w="2540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365760" cy="36576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y procesamiento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2103120"/>
            <a:ext cx="365760" cy="36576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14884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– Mar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2514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entrenamiento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modelos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2103120"/>
            <a:ext cx="365760" cy="36576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79476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2514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Explicabilidad, técnicas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y fusión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365760" cy="36576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4068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40680" y="2514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del dataset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redacción de la memoria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80960" y="2103120"/>
            <a:ext cx="365760" cy="365760"/>
          </a:xfrm>
          <a:prstGeom prst="ellipse">
            <a:avLst/>
          </a:prstGeom>
          <a:solidFill>
            <a:srgbClr val="9CA3A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08660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86600" y="2514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69748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21792" y="327355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868680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5204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 (5 archs × 4 múscs × 5 folds)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estadístico (IC, Youden, DeLong)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Fusión paciente + bootstrap CI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 (Grad-CAM y 3 métodos más)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memoria + bibliografía IEEE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23260" y="3108960"/>
            <a:ext cx="269748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387852" y="327355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634740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06140" y="35204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del nuevo dataset (Aljaro, +75 pac.)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</a:t>
            </a: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original vs nuevo vs combinado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de la memoria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89320" y="3108960"/>
            <a:ext cx="269748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8DA9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6153912" y="3273552"/>
            <a:ext cx="164592" cy="16459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400800" y="3200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5204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Terminar</a:t>
            </a: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memoria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9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</a:t>
            </a: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defensa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ELA · IMAT 2025–26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3221</TotalTime>
  <Words>825</Words>
  <Application>Microsoft Macintosh PowerPoint</Application>
  <PresentationFormat>Presentación en pantalla (16:9)</PresentationFormat>
  <Paragraphs>212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TFG ELA - Seguimiento</dc:title>
  <dc:subject>PptxGenJS Presentation</dc:subject>
  <dc:creator>Jose Juan Cortina</dc:creator>
  <cp:lastModifiedBy>José Juan Cortina Galindo</cp:lastModifiedBy>
  <cp:revision>2</cp:revision>
  <dcterms:created xsi:type="dcterms:W3CDTF">2026-05-03T16:55:11Z</dcterms:created>
  <dcterms:modified xsi:type="dcterms:W3CDTF">2026-05-05T22:38:52Z</dcterms:modified>
</cp:coreProperties>
</file>